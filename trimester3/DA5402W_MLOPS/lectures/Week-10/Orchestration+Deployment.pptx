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Raleway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5666C5-C90F-45BC-B9FB-A31F4B67260A}">
  <a:tblStyle styleId="{095666C5-C90F-45BC-B9FB-A31F4B6726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Raleway-regular.fntdata"/><Relationship Id="rId43" Type="http://schemas.openxmlformats.org/officeDocument/2006/relationships/slide" Target="slides/slide37.xml"/><Relationship Id="rId46" Type="http://schemas.openxmlformats.org/officeDocument/2006/relationships/font" Target="fonts/Raleway-italic.fntdata"/><Relationship Id="rId45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regular.fntdata"/><Relationship Id="rId47" Type="http://schemas.openxmlformats.org/officeDocument/2006/relationships/font" Target="fonts/Raleway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ubernetes.io/docs/concepts/configuration/secret/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ubernetes.io/docs/concepts/storage/volumes/#hostpath" TargetMode="External"/><Relationship Id="rId3" Type="http://schemas.openxmlformats.org/officeDocument/2006/relationships/hyperlink" Target="https://kubernetes.io/docs/concepts/storage/volumes/#local" TargetMode="External"/><Relationship Id="rId4" Type="http://schemas.openxmlformats.org/officeDocument/2006/relationships/hyperlink" Target="https://kubernetes.io/docs/concepts/storage/volumes/#nfs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ubernetes.io/docs/concepts/services-networking/service/#services-without-selectors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ubernetes.io/docs/reference/config-api/kube-proxy-config.v1alpha1/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d205800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d205800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4a842b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54a842b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453c241d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453c241d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453c241d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453c241d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https://towardsdatascience.com/docker-networking-919461b7f498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453c241d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453c241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d2058002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d205800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2058002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d2058002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2058002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2058002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2058002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d2058002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d2058002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d2058002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d2058002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d2058002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2058002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d2058002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d2058002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d2058002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d2058002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d2058002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d2058002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d2058002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d2058002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d2058002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2058002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d2058002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d2058002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d2058002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d2058002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d2058002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Because we’re not supposed to pack multiple processes into a single container, we need a higher-level structure that will allow us to tie and wrap containers together and manage them as a single unit. This is the reasoning behind the pods. 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Simply put, a </a:t>
            </a:r>
            <a:r>
              <a:rPr b="1" i="1" lang="en" sz="1350">
                <a:solidFill>
                  <a:schemeClr val="dk1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Kubernetes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pod is a collection of containers.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 given Pod (as defined by a UID) is never "rescheduled" to a different node; instead, that Pod can be replaced by a new, near-identical Pod, with even the same name if desired, but with a different UID.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related thing (a volume, in this example) is also destroyed and created anew.</a:t>
            </a:r>
            <a:b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Init containers can run with a different view of the filesystem than app containers in the same Pod. Consequently, they can be given access to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Secrets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that app containers cannot access.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d2058002a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d2058002a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Explain metadata,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How we get image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Various stages in pod creation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Sidecar and volume sharing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 + hw: init container start main container only when another pod endpoint is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(give example of microservice chain)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d2058002a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d2058002a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d2058002a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d2058002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A1120"/>
                </a:solidFill>
                <a:highlight>
                  <a:srgbClr val="FFFFFF"/>
                </a:highlight>
              </a:rPr>
              <a:t>hey are implemented as a loop that monitors for changes in the resource and makes changes if necessary.</a:t>
            </a:r>
            <a:endParaRPr sz="1500">
              <a:solidFill>
                <a:srgbClr val="0A112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A112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A112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A1120"/>
                </a:solidFill>
                <a:highlight>
                  <a:srgbClr val="FFFFFF"/>
                </a:highlight>
              </a:rPr>
              <a:t>https://semaphoreci.com/blog/replicaset-statefulset-daemonset-deployments#:~:text=Hence%2C%20in%20comparison%20to%20ReplicaSets,database%20that%20requires%20persistent%20storage.</a:t>
            </a:r>
            <a:endParaRPr sz="1500">
              <a:solidFill>
                <a:srgbClr val="0A112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d2058002a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d2058002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d2058002a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d2058002a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 + hw: init container start main container only when another pod endpoint is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(give example of microservice chain)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microk8s enable hostpath-storage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d2058002a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d2058002a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d2058002a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d2058002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050">
                <a:solidFill>
                  <a:srgbClr val="3371E3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hostPath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- HostPath volume (for single node testing only; WILL NOT WORK in a multi-node cluster; consider using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local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volume instead)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050">
                <a:solidFill>
                  <a:srgbClr val="3371E3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local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- local storage devices mounted on nodes. Can be a acccesible to pod even if it moves (restarts)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050">
                <a:solidFill>
                  <a:srgbClr val="3371E3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- Network File System (NFS) storage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b="1" lang="en" sz="1050">
                <a:solidFill>
                  <a:srgbClr val="C973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ReadWriteOnce</a:t>
            </a:r>
            <a:endParaRPr b="1" sz="1050">
              <a:solidFill>
                <a:srgbClr val="C973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the volume can be mounted as read-write by a single node. ReadWriteOnce access mode still can allow multiple pods to access the volume when the pods are running on the same node. For single pod access, please see ReadWriteOncePod.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b="1" lang="en" sz="1050">
                <a:solidFill>
                  <a:srgbClr val="C973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ReadOnlyMany</a:t>
            </a:r>
            <a:endParaRPr b="1" sz="1050">
              <a:solidFill>
                <a:srgbClr val="C973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the volume can be mounted as read-only by many nodes.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b="1" lang="en" sz="1050">
                <a:solidFill>
                  <a:srgbClr val="C973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ReadWriteMany</a:t>
            </a:r>
            <a:endParaRPr b="1" sz="1050">
              <a:solidFill>
                <a:srgbClr val="C973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the volume can be mounted as read-write by many nodes.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b="1" lang="en" sz="1050">
                <a:solidFill>
                  <a:srgbClr val="C973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ReadWriteOncePod</a:t>
            </a:r>
            <a:endParaRPr b="1" sz="1050">
              <a:solidFill>
                <a:srgbClr val="C973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FEATURE STATE: </a:t>
            </a:r>
            <a:r>
              <a:rPr lang="en" sz="1050">
                <a:solidFill>
                  <a:srgbClr val="C973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Kubernetes v1.29 [stable]</a:t>
            </a:r>
            <a:endParaRPr sz="1050">
              <a:solidFill>
                <a:srgbClr val="C973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the volume can be mounted as read-write by a single Pod. Use ReadWriteOncePod access mode if you want to ensure that only one pod across the whole cluster can read that PVC or write to it.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Open Sans"/>
              <a:buChar char="●"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d2058002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d2058002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Ngnix staefulset</a:t>
            </a:r>
            <a:b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apiVersion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apps/v1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kind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DaemonSet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metadata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name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fluentd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spec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selector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matchLabels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app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fluentd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template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metadata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labels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  app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fluentd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spec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containers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fluentd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  image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fluent/fluentd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v1.7.4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200">
                <a:solidFill>
                  <a:srgbClr val="990055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1.0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  volumeMounts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varlog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    mountPath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/var/log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terminationGracePeriodSeconds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90055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volumes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varlog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  hostPath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         path</a:t>
            </a:r>
            <a:r>
              <a:rPr lang="en" sz="1200">
                <a:solidFill>
                  <a:srgbClr val="999999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rgbClr val="F5F2F0"/>
                </a:highlight>
                <a:latin typeface="Consolas"/>
                <a:ea typeface="Consolas"/>
                <a:cs typeface="Consolas"/>
                <a:sym typeface="Consolas"/>
              </a:rPr>
              <a:t> /var/log</a:t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5F2F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d2058002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d2058002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https://kubernetes.io/docs/concepts/services-networking/service/#services-without-selectors</a:t>
            </a:r>
            <a:r>
              <a:rPr lang="en"/>
              <a:t> </a:t>
            </a:r>
            <a:br>
              <a:rPr lang="en"/>
            </a:br>
            <a:r>
              <a:rPr lang="en"/>
              <a:t>Handle external application as well (when used without selector, needs to have endpoint IP then)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 port service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d2058002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d2058002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If you want to specify particular IP address(es) to proxy the port, you can set the </a:t>
            </a:r>
            <a:r>
              <a:rPr lang="en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--nodeport-addresses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flag for kube-proxy or the equivalent </a:t>
            </a:r>
            <a:r>
              <a:rPr lang="en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nodePortAddresses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field of the </a:t>
            </a:r>
            <a:r>
              <a:rPr lang="en" sz="1200">
                <a:solidFill>
                  <a:srgbClr val="3371E3"/>
                </a:solidFill>
                <a:highlight>
                  <a:srgbClr val="FFFFFF"/>
                </a:highlight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kube-proxy configuration file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to particular IP block(s).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apiVersion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v1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kind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Service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metadata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example-service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spec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selector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ports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666666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8765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targetPort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666666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9376</a:t>
            </a:r>
            <a:endParaRPr sz="1050">
              <a:solidFill>
                <a:srgbClr val="BBBBBB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8000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050">
                <a:solidFill>
                  <a:srgbClr val="BBBBBB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50">
                <a:solidFill>
                  <a:srgbClr val="222222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LoadBalancer</a:t>
            </a:r>
            <a:endParaRPr sz="1050">
              <a:solidFill>
                <a:srgbClr val="222222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d2058002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d2058002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453c241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c453c241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54a842bd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54a842bd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d2058002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d2058002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d2058002a_0_2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d2058002a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d2058002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d2058002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</a:t>
            </a:r>
            <a:r>
              <a:rPr lang="en" sz="1050">
                <a:solidFill>
                  <a:srgbClr val="0A0A0A"/>
                </a:solidFill>
                <a:highlight>
                  <a:srgbClr val="FFFFFF"/>
                </a:highlight>
              </a:rPr>
              <a:t>avings plans for predictable workloads.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d2058002a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bd2058002a_0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, plain, business unit">
  <p:cSld name="Cover, plain, business uni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15999" y="4673727"/>
            <a:ext cx="4143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53894" y="4697612"/>
            <a:ext cx="614281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215999" y="144018"/>
            <a:ext cx="41433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quay.io/ppnaik/ml-app:v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pnl-iiitd/acm_fsn/tree/main" TargetMode="External"/><Relationship Id="rId4" Type="http://schemas.openxmlformats.org/officeDocument/2006/relationships/hyperlink" Target="https://medium.com/aspnetrun/deploying-microservices-on-kubernetes-35296d369fdb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+ ML Deployment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Virtualization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Docker Networking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Kubernetes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 tag ml-app:v1 </a:t>
            </a:r>
            <a:r>
              <a:rPr lang="en" u="sng">
                <a:solidFill>
                  <a:schemeClr val="hlink"/>
                </a:solidFill>
                <a:hlinkClick r:id="rId3"/>
              </a:rPr>
              <a:t>quay.io/ppnaik/ml-app:v1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docker push quay.io/myorg/ml-app:v1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50" y="175075"/>
            <a:ext cx="8588651" cy="49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Networking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9900" y="1017725"/>
            <a:ext cx="91440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Three networks created automatically - Bridge, Host, and None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Bridge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network assigns IPs in the range of </a:t>
            </a:r>
            <a:r>
              <a:rPr i="1" lang="en" sz="1600">
                <a:solidFill>
                  <a:schemeClr val="dk1"/>
                </a:solidFill>
                <a:highlight>
                  <a:srgbClr val="FFFFFF"/>
                </a:highlight>
              </a:rPr>
              <a:t>172.17.x.x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the containers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Host Mode: Accessible on the same port on the docker host without any explicit port mapping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None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network keeps the container in complete isolation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275" y="2183900"/>
            <a:ext cx="6287075" cy="28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Bridge Network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Default network container connect to bridge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250" y="1867925"/>
            <a:ext cx="5423951" cy="313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port forwarding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 rotWithShape="1">
          <a:blip r:embed="rId3">
            <a:alphaModFix/>
          </a:blip>
          <a:srcRect b="1642" l="1484" r="908" t="1768"/>
          <a:stretch/>
        </p:blipFill>
        <p:spPr>
          <a:xfrm>
            <a:off x="1150050" y="1017725"/>
            <a:ext cx="6321775" cy="3624825"/>
          </a:xfrm>
          <a:prstGeom prst="rect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20"/>
          <p:cNvSpPr txBox="1"/>
          <p:nvPr/>
        </p:nvSpPr>
        <p:spPr>
          <a:xfrm>
            <a:off x="258525" y="4789500"/>
            <a:ext cx="876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https://tecadmin.net/tutorial/wp-content/uploads/2017/09/Docker-port-binding.png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4178875" y="901050"/>
            <a:ext cx="1307400" cy="572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Dockerfile</a:t>
            </a:r>
            <a:br>
              <a:rPr lang="en"/>
            </a:br>
            <a:r>
              <a:rPr lang="en"/>
              <a:t>EXPOSE 80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forwarding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827550" y="1912475"/>
            <a:ext cx="74889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docker run -d --name mycontainer1 -p 8080:80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mypython-app:v1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1221375" y="3187425"/>
            <a:ext cx="636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See in action: go to browser and enter URL localhost:8080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325" y="620237"/>
            <a:ext cx="4845149" cy="390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/>
        </p:nvSpPr>
        <p:spPr>
          <a:xfrm>
            <a:off x="196575" y="4789500"/>
            <a:ext cx="757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https://blog.octo.com/docker-registry-first-steps/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commands summarized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orchestration</a:t>
            </a:r>
            <a:endParaRPr/>
          </a:p>
        </p:txBody>
      </p:sp>
      <p:sp>
        <p:nvSpPr>
          <p:cNvPr id="119" name="Google Shape;119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kubernetes?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2200"/>
              <a:buChar char="●"/>
            </a:pPr>
            <a:r>
              <a:rPr lang="en" sz="2200">
                <a:solidFill>
                  <a:srgbClr val="24292F"/>
                </a:solidFill>
              </a:rPr>
              <a:t>Docker: Single machine container deployment</a:t>
            </a:r>
            <a:endParaRPr sz="2200">
              <a:solidFill>
                <a:srgbClr val="24292F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2200"/>
              <a:buChar char="●"/>
            </a:pPr>
            <a:r>
              <a:rPr lang="en" sz="2200">
                <a:solidFill>
                  <a:srgbClr val="24292F"/>
                </a:solidFill>
              </a:rPr>
              <a:t>Kubernetes (k8s): Container Orchestration</a:t>
            </a:r>
            <a:endParaRPr sz="2200">
              <a:solidFill>
                <a:srgbClr val="24292F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2200"/>
              <a:buChar char="○"/>
            </a:pPr>
            <a:r>
              <a:rPr lang="en" sz="2200">
                <a:solidFill>
                  <a:srgbClr val="24292F"/>
                </a:solidFill>
              </a:rPr>
              <a:t>Across a cluster of machines</a:t>
            </a:r>
            <a:endParaRPr sz="2200">
              <a:solidFill>
                <a:srgbClr val="24292F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2200"/>
              <a:buChar char="○"/>
            </a:pPr>
            <a:r>
              <a:rPr lang="en" sz="2200">
                <a:solidFill>
                  <a:srgbClr val="24292F"/>
                </a:solidFill>
              </a:rPr>
              <a:t>Manage automated deployment, scaling</a:t>
            </a:r>
            <a:endParaRPr sz="2200">
              <a:solidFill>
                <a:srgbClr val="2429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125" y="1356425"/>
            <a:ext cx="4731950" cy="29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Architecture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248575" y="1127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00" y="1017725"/>
            <a:ext cx="7027868" cy="434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>
            <a:off x="2018925" y="1749750"/>
            <a:ext cx="2201700" cy="692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F"/>
                </a:solidFill>
              </a:rPr>
              <a:t>REST based front end for k8s frontend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Architecture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00" y="1017725"/>
            <a:ext cx="7027868" cy="434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730650" y="1471650"/>
            <a:ext cx="2941800" cy="961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F"/>
                </a:solidFill>
              </a:rPr>
              <a:t>highly-available key value store for backing k8s data</a:t>
            </a:r>
            <a:endParaRPr sz="1200">
              <a:solidFill>
                <a:srgbClr val="24292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Architecture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00" y="1017725"/>
            <a:ext cx="7027868" cy="434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/>
          <p:nvPr/>
        </p:nvSpPr>
        <p:spPr>
          <a:xfrm>
            <a:off x="711425" y="2423450"/>
            <a:ext cx="2941800" cy="961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F"/>
                </a:solidFill>
              </a:rPr>
              <a:t>Schedules pods to nodes</a:t>
            </a:r>
            <a:br>
              <a:rPr lang="en" sz="1200">
                <a:solidFill>
                  <a:srgbClr val="24292F"/>
                </a:solidFill>
              </a:rPr>
            </a:br>
            <a:r>
              <a:rPr lang="en" sz="1200">
                <a:solidFill>
                  <a:srgbClr val="24292F"/>
                </a:solidFill>
              </a:rPr>
              <a:t>Based on filtering and scoring</a:t>
            </a:r>
            <a:endParaRPr sz="1200">
              <a:solidFill>
                <a:srgbClr val="24292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Architecture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00" y="1017725"/>
            <a:ext cx="7027868" cy="434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/>
          <p:nvPr/>
        </p:nvSpPr>
        <p:spPr>
          <a:xfrm>
            <a:off x="2874575" y="1913900"/>
            <a:ext cx="2941800" cy="961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F"/>
                </a:solidFill>
              </a:rPr>
              <a:t>runs on every node to ensure containers are in running state</a:t>
            </a:r>
            <a:endParaRPr sz="1200">
              <a:solidFill>
                <a:srgbClr val="24292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Architecture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00" y="1017725"/>
            <a:ext cx="7027868" cy="434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/>
          <p:nvPr/>
        </p:nvSpPr>
        <p:spPr>
          <a:xfrm>
            <a:off x="3470625" y="1923500"/>
            <a:ext cx="2941800" cy="961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F"/>
                </a:solidFill>
              </a:rPr>
              <a:t>Maintains network rules on a node</a:t>
            </a:r>
            <a:endParaRPr sz="1200">
              <a:solidFill>
                <a:srgbClr val="24292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Kubernetes Overview: Master and Worker Nodes</a:t>
            </a:r>
            <a:endParaRPr sz="2500"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ct val="100000"/>
              <a:buChar char="●"/>
            </a:pPr>
            <a:r>
              <a:rPr lang="en" sz="2000">
                <a:solidFill>
                  <a:srgbClr val="24292F"/>
                </a:solidFill>
              </a:rPr>
              <a:t>Kubernetes clusters consist of workers, each running pods</a:t>
            </a:r>
            <a:endParaRPr sz="2000">
              <a:solidFill>
                <a:srgbClr val="24292F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>
                <a:solidFill>
                  <a:srgbClr val="44546A"/>
                </a:solidFill>
              </a:rPr>
              <a:t>Control Plane: </a:t>
            </a:r>
            <a:r>
              <a:rPr lang="en" sz="2000">
                <a:solidFill>
                  <a:srgbClr val="24292F"/>
                </a:solidFill>
              </a:rPr>
              <a:t>Manages workers and pods scheduling, fault-tolerance</a:t>
            </a:r>
            <a:endParaRPr sz="2000">
              <a:solidFill>
                <a:srgbClr val="24292F"/>
              </a:solidFill>
            </a:endParaRPr>
          </a:p>
          <a:p>
            <a:pPr indent="-346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>
                <a:solidFill>
                  <a:srgbClr val="24292F"/>
                </a:solidFill>
              </a:rPr>
              <a:t>kube-apiserver: REST based front end for k8s frontend</a:t>
            </a:r>
            <a:endParaRPr sz="2000">
              <a:solidFill>
                <a:srgbClr val="24292F"/>
              </a:solidFill>
            </a:endParaRPr>
          </a:p>
          <a:p>
            <a:pPr indent="-346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>
                <a:solidFill>
                  <a:srgbClr val="24292F"/>
                </a:solidFill>
              </a:rPr>
              <a:t>etcd: highly-available key value store for backing k8s data</a:t>
            </a:r>
            <a:endParaRPr sz="2000">
              <a:solidFill>
                <a:srgbClr val="44546A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ct val="100000"/>
              <a:buChar char="●"/>
            </a:pPr>
            <a:r>
              <a:rPr lang="en" sz="2000">
                <a:solidFill>
                  <a:srgbClr val="44546A"/>
                </a:solidFill>
              </a:rPr>
              <a:t>Node Components:</a:t>
            </a:r>
            <a:endParaRPr sz="2000">
              <a:solidFill>
                <a:srgbClr val="44546A"/>
              </a:solidFill>
            </a:endParaRPr>
          </a:p>
          <a:p>
            <a:pPr indent="-346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ct val="100000"/>
              <a:buChar char="○"/>
            </a:pPr>
            <a:r>
              <a:rPr lang="en" sz="2000">
                <a:solidFill>
                  <a:srgbClr val="24292F"/>
                </a:solidFill>
              </a:rPr>
              <a:t>kubelet: runs on every node to ensure containers are in running state</a:t>
            </a:r>
            <a:endParaRPr sz="2000">
              <a:solidFill>
                <a:srgbClr val="24292F"/>
              </a:solidFill>
            </a:endParaRPr>
          </a:p>
          <a:p>
            <a:pPr indent="-346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ct val="100000"/>
              <a:buChar char="○"/>
            </a:pPr>
            <a:r>
              <a:rPr lang="en" sz="2000">
                <a:solidFill>
                  <a:srgbClr val="24292F"/>
                </a:solidFill>
              </a:rPr>
              <a:t>kube-proxy: Maintains network rules on a node.</a:t>
            </a:r>
            <a:endParaRPr sz="2000">
              <a:solidFill>
                <a:srgbClr val="24292F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ct val="100000"/>
              <a:buChar char="●"/>
            </a:pPr>
            <a:r>
              <a:rPr lang="en" sz="2000">
                <a:solidFill>
                  <a:srgbClr val="24292F"/>
                </a:solidFill>
              </a:rPr>
              <a:t>container runtime: software for running containers. e.g. containerd, docker</a:t>
            </a:r>
            <a:endParaRPr sz="2000">
              <a:solidFill>
                <a:srgbClr val="2429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Namespace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75" y="1252700"/>
            <a:ext cx="4731950" cy="29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/>
          <p:nvPr/>
        </p:nvSpPr>
        <p:spPr>
          <a:xfrm>
            <a:off x="3932450" y="1503825"/>
            <a:ext cx="1063200" cy="5727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>
            <a:off x="5026125" y="1503825"/>
            <a:ext cx="1063200" cy="5727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/>
          <p:nvPr/>
        </p:nvSpPr>
        <p:spPr>
          <a:xfrm>
            <a:off x="5303600" y="3713175"/>
            <a:ext cx="1063200" cy="1413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5303450" y="3987525"/>
            <a:ext cx="1063200" cy="1413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6507925" y="3543500"/>
            <a:ext cx="247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Namespace: Isolated environment for each user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Kubectl get started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152475"/>
            <a:ext cx="874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 a namespace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create namespace &lt;urname&gt;</a:t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">
                <a:solidFill>
                  <a:schemeClr val="dk1"/>
                </a:solidFill>
              </a:rPr>
              <a:t>Go to the namespace</a:t>
            </a:r>
            <a:r>
              <a:rPr lang="en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config set-context --current --namespace=&lt;namespacename&gt;</a:t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41B47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510700" y="2967125"/>
            <a:ext cx="70989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test locally:</a:t>
            </a:r>
            <a:endParaRPr sz="18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Install minikube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Install kubectl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Install docker/podman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55"/>
              </a:buClr>
              <a:buSzPts val="1400"/>
              <a:buFont typeface="Consolas"/>
              <a:buChar char="●"/>
            </a:pPr>
            <a:r>
              <a:rPr lang="en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minikube start --driver=docker</a:t>
            </a:r>
            <a:endParaRPr>
              <a:solidFill>
                <a:srgbClr val="9900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55"/>
              </a:buClr>
              <a:buSzPts val="1400"/>
              <a:buFont typeface="Consolas"/>
              <a:buChar char="●"/>
            </a:pPr>
            <a:r>
              <a:rPr lang="en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minikube kubectl create namespace abc</a:t>
            </a:r>
            <a:endParaRPr>
              <a:solidFill>
                <a:srgbClr val="9900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55"/>
              </a:buClr>
              <a:buSzPts val="1400"/>
              <a:buFont typeface="Consolas"/>
              <a:buChar char="●"/>
            </a:pPr>
            <a:r>
              <a:rPr lang="en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minikube kubectl -- config set-context --current --namespace=abc</a:t>
            </a:r>
            <a:endParaRPr>
              <a:solidFill>
                <a:srgbClr val="9900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55"/>
              </a:buClr>
              <a:buSzPts val="1400"/>
              <a:buFont typeface="Consolas"/>
              <a:buChar char="●"/>
            </a:pPr>
            <a:r>
              <a:rPr lang="en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alias kubectl="minikube kubectl --"</a:t>
            </a:r>
            <a:endParaRPr>
              <a:solidFill>
                <a:srgbClr val="9900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9900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Pods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4292F"/>
                </a:solidFill>
              </a:rPr>
              <a:t>Application specific logical host.</a:t>
            </a:r>
            <a:endParaRPr sz="2200">
              <a:solidFill>
                <a:srgbClr val="24292F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24292F"/>
              </a:buClr>
              <a:buSzPts val="2200"/>
              <a:buChar char="●"/>
            </a:pPr>
            <a:r>
              <a:rPr lang="en" sz="2200">
                <a:solidFill>
                  <a:srgbClr val="0C0D0E"/>
                </a:solidFill>
                <a:highlight>
                  <a:srgbClr val="FFFFFF"/>
                </a:highlight>
              </a:rPr>
              <a:t>single unit of deployment</a:t>
            </a:r>
            <a:endParaRPr sz="2200">
              <a:solidFill>
                <a:srgbClr val="24292F"/>
              </a:solidFill>
              <a:highlight>
                <a:schemeClr val="lt1"/>
              </a:highlight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2200"/>
              <a:buChar char="●"/>
            </a:pPr>
            <a:r>
              <a:rPr lang="en" sz="2200">
                <a:solidFill>
                  <a:srgbClr val="24292F"/>
                </a:solidFill>
              </a:rPr>
              <a:t>group of containers with shared storage and network resources.</a:t>
            </a:r>
            <a:endParaRPr sz="2200">
              <a:solidFill>
                <a:srgbClr val="2429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700" y="2767488"/>
            <a:ext cx="455295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 Example add namespace</a:t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-40600" y="121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 a single nginx pod: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apply -f ngnix-pod.yaml -n &lt;namespace&gt;</a:t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Check the pod: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describe pod nginx</a:t>
            </a:r>
            <a:endParaRPr sz="18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exec -it nginx </a:t>
            </a:r>
            <a:r>
              <a:rPr lang="en" sz="18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8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/bin/bash</a:t>
            </a:r>
            <a:endParaRPr sz="18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3350" y="2445125"/>
            <a:ext cx="3483349" cy="25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Pod Yaml Example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5"/>
          <p:cNvSpPr txBox="1"/>
          <p:nvPr/>
        </p:nvSpPr>
        <p:spPr>
          <a:xfrm>
            <a:off x="3059525" y="2497750"/>
            <a:ext cx="49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25" y="1498500"/>
            <a:ext cx="8167376" cy="29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Deployments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Kubernetes Controllers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Features: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Rolling Update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Rollback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Version Control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21" name="Google Shape;2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425" y="67300"/>
            <a:ext cx="3339349" cy="49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882" y="0"/>
            <a:ext cx="715823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Example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187075" y="1671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Consolas"/>
              <a:buChar char="●"/>
            </a:pPr>
            <a:r>
              <a:rPr lang="en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apply -f nginx_dep.yaml</a:t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Replicas, delete and see them start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525" y="445025"/>
            <a:ext cx="4215349" cy="43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Persistent Volume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14063"/>
            <a:ext cx="837247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Persistent Volume and PersistentVolumeClaim</a:t>
            </a:r>
            <a:endParaRPr i="1"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PersistentVolume (PV):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 is a cluster resource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○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Implemented as plugin (hostpath,local,nfs)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○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Have a lifecycle independent of a pod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 PersistentVolumeClaim (PVC) :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○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is a storage request from a user. 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○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Request for volume similar to CPU, memory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○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</a:rPr>
              <a:t>PVC access modes: ReadWriteOnce, ReadOnlyMany, ReadWriteMany, or ReadWriteOncePod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Statefulset and Daemonset</a:t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Statefulset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Deployment and scaling of stateful pods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Stateful pod: requires persistent storage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Daemonset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 instance of the pod runs on each node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System daemons and background processes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p41"/>
          <p:cNvSpPr txBox="1"/>
          <p:nvPr/>
        </p:nvSpPr>
        <p:spPr>
          <a:xfrm>
            <a:off x="68950" y="4895300"/>
            <a:ext cx="828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https://semaphoreci.com/blog/replicaset-statefulset-daemonset-deployments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Abstraction for an application running multiple replica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Service discovery to find matching endpoint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Multi-port Service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Type: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ClusterIP: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NodePort: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LoadBalancer: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ExternalName: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Service Discovery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Service</a:t>
            </a:r>
            <a:endParaRPr/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ClusterIP: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Default service type. Accessible within the cluster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NodePort: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Allocates a port on each node to forward request to the service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--service-node-port-range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flag (default: 30000-32767)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Load Balancer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Traffic from the external load balancer is directed at the backend Pods.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</a:pPr>
            <a:r>
              <a:rPr lang="en">
                <a:solidFill>
                  <a:schemeClr val="dk1"/>
                </a:solidFill>
              </a:rPr>
              <a:t>You can specify a</a:t>
            </a: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loadBalancerIP </a:t>
            </a:r>
            <a:r>
              <a:rPr lang="en">
                <a:solidFill>
                  <a:schemeClr val="dk1"/>
                </a:solidFill>
              </a:rPr>
              <a:t>or use ephemeral IP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ExternalName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Service to a DNS name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my.database.example.com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Consolas"/>
              <a:buChar char="●"/>
            </a:pPr>
            <a:r>
              <a:rPr lang="en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apply -f nginx-service.yaml</a:t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Consolas"/>
              <a:buChar char="●"/>
            </a:pPr>
            <a:r>
              <a:rPr lang="en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kubectl describe service nginx-service</a:t>
            </a:r>
            <a:endParaRPr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Check connectivity (use the netshoot pod)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8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curl &lt;serviceIP:port&gt;</a:t>
            </a:r>
            <a:endParaRPr sz="18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800">
                <a:solidFill>
                  <a:schemeClr val="dk1"/>
                </a:solidFill>
              </a:rPr>
              <a:t>Which IP, which port ??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875" y="109425"/>
            <a:ext cx="6689551" cy="480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Ml-app example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kubectl apply -f configmap.yaml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kubectl apply -f </a:t>
            </a:r>
            <a:r>
              <a:rPr lang="en">
                <a:solidFill>
                  <a:schemeClr val="dk1"/>
                </a:solidFill>
              </a:rPr>
              <a:t>pv.yaml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kubectl apply -f </a:t>
            </a:r>
            <a:r>
              <a:rPr lang="en">
                <a:solidFill>
                  <a:schemeClr val="dk1"/>
                </a:solidFill>
              </a:rPr>
              <a:t>deployment.yaml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kubectl port-forward -n ml-app svc/ml-app 8002:80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curl -X POST http://localhost:8002/predict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-H "Content-Type: application/json"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-d '{"texts": ["This movie was amazing!"]}'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 out</a:t>
            </a:r>
            <a:endParaRPr/>
          </a:p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https://github.com/pnl-iiitd/acm_fsn/tree/main</a:t>
            </a:r>
            <a:r>
              <a:rPr lang="en"/>
              <a:t> (k8s and service)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https://medium.com/aspnetrun/deploying-microservices-on-kubernetes-35296d369fdb</a:t>
            </a:r>
            <a:r>
              <a:rPr lang="en" u="sng">
                <a:solidFill>
                  <a:schemeClr val="hlink"/>
                </a:solidFill>
              </a:rPr>
              <a:t> 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215999" y="278590"/>
            <a:ext cx="6798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Cloud Market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, bar chart&#10;&#10;Description automatically generated" id="298" name="Google Shape;29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6230" y="834565"/>
            <a:ext cx="5742124" cy="4308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Hyperscale Cloud Providers</a:t>
            </a:r>
            <a:endParaRPr/>
          </a:p>
        </p:txBody>
      </p:sp>
      <p:graphicFrame>
        <p:nvGraphicFramePr>
          <p:cNvPr id="305" name="Google Shape;305;p49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{095666C5-C90F-45BC-B9FB-A31F4B67260A}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AWS EC2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Azure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GCP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Providers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Amazon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Microsoft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Google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Strengths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</a:rPr>
                        <a:t>Market leader/ Pricing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Integration with Microsoft suite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Fastest growing for AI-ML market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300"/>
                        </a:spcAft>
                        <a:buNone/>
                      </a:pPr>
                      <a:r>
                        <a:rPr lang="en" sz="1350">
                          <a:solidFill>
                            <a:srgbClr val="1D1D1D"/>
                          </a:solidFill>
                          <a:highlight>
                            <a:srgbClr val="FFFFFF"/>
                          </a:highlight>
                        </a:rPr>
                        <a:t>Netflix, Airbnb, Coursera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300"/>
                        </a:spcAft>
                        <a:buNone/>
                      </a:pPr>
                      <a:r>
                        <a:rPr lang="en" sz="1350">
                          <a:solidFill>
                            <a:srgbClr val="1D1D1D"/>
                          </a:solidFill>
                          <a:highlight>
                            <a:srgbClr val="FFFFFF"/>
                          </a:highlight>
                        </a:rPr>
                        <a:t>HSBC, Starbucks, HP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Paypal, Unilever, Toyota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300"/>
                        </a:spcAft>
                        <a:buNone/>
                      </a:pPr>
                      <a:r>
                        <a:rPr lang="en" sz="1350">
                          <a:solidFill>
                            <a:srgbClr val="1D1D1D"/>
                          </a:solidFill>
                          <a:highlight>
                            <a:srgbClr val="FFFFFF"/>
                          </a:highlight>
                        </a:rPr>
                        <a:t>200 Data centers (22 regions)</a:t>
                      </a:r>
                      <a:endParaRPr sz="1350">
                        <a:solidFill>
                          <a:srgbClr val="1D1D1D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300"/>
                        </a:spcAft>
                        <a:buNone/>
                      </a:pPr>
                      <a:r>
                        <a:rPr lang="en" sz="1350">
                          <a:solidFill>
                            <a:srgbClr val="1D1D1D"/>
                          </a:solidFill>
                          <a:highlight>
                            <a:srgbClr val="FFFFFF"/>
                          </a:highlight>
                        </a:rPr>
                        <a:t> More regions (66)</a:t>
                      </a:r>
                      <a:endParaRPr sz="1350">
                        <a:solidFill>
                          <a:srgbClr val="1D1D1D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 regions, Low latency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215999" y="278590"/>
            <a:ext cx="6798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"/>
              <a:t>Hybrid Cloud</a:t>
            </a:r>
            <a:endParaRPr/>
          </a:p>
        </p:txBody>
      </p:sp>
      <p:sp>
        <p:nvSpPr>
          <p:cNvPr id="311" name="Google Shape;311;p50"/>
          <p:cNvSpPr txBox="1"/>
          <p:nvPr/>
        </p:nvSpPr>
        <p:spPr>
          <a:xfrm>
            <a:off x="506896" y="1192696"/>
            <a:ext cx="596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Cloud </a:t>
            </a:r>
            <a:endParaRPr sz="1100"/>
          </a:p>
          <a:p>
            <a:pPr indent="-247650" lvl="0" marL="254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Cloud/ On Prem</a:t>
            </a:r>
            <a:endParaRPr sz="1100"/>
          </a:p>
        </p:txBody>
      </p:sp>
      <p:pic>
        <p:nvPicPr>
          <p:cNvPr id="312" name="Google Shape;31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9702" y="868054"/>
            <a:ext cx="800743" cy="800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7529" y="835038"/>
            <a:ext cx="1533525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5471" y="930288"/>
            <a:ext cx="11144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9818" y="806933"/>
            <a:ext cx="11525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98632" y="1301855"/>
            <a:ext cx="200025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0"/>
          <p:cNvSpPr txBox="1"/>
          <p:nvPr/>
        </p:nvSpPr>
        <p:spPr>
          <a:xfrm>
            <a:off x="262337" y="2571750"/>
            <a:ext cx="6798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Multi-Cloud </a:t>
            </a:r>
            <a:endParaRPr sz="1100"/>
          </a:p>
        </p:txBody>
      </p:sp>
      <p:pic>
        <p:nvPicPr>
          <p:cNvPr id="318" name="Google Shape;318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5471" y="2241251"/>
            <a:ext cx="4616806" cy="2725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