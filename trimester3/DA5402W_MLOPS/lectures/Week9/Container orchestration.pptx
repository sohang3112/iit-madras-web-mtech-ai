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cb463a2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cb463a2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cb463a21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cb463a21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b463a21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b463a21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Replace with iit b keynote talk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cb463a21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cb463a21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cb463a21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cb463a21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cb463a21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cb463a21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cb463a21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cb463a21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cb463a21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cb463a21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cloud hybrid and all here?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cb463a21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cb463a21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Process Virtualization technology ensures that a Task is executed exactly as if it is being executed on the computer that initiated the Job (Initiating Machine), regardless of the remote Agent's file system, installation base, and environment.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cb463a21f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cb463a21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Interrupts still need to be handle with the exit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cb463a21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cb463a21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cb463a21f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cb463a21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cb463a21f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cb463a21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1111"/>
                </a:solidFill>
                <a:highlight>
                  <a:srgbClr val="FFFFFF"/>
                </a:highlight>
              </a:rPr>
              <a:t>client-server architecture</a:t>
            </a:r>
            <a:endParaRPr sz="12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1111"/>
                </a:solidFill>
                <a:highlight>
                  <a:srgbClr val="FFFFFF"/>
                </a:highlight>
              </a:rPr>
              <a:t>Docker Hub is public registry</a:t>
            </a:r>
            <a:endParaRPr sz="1200">
              <a:solidFill>
                <a:srgbClr val="11111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cb463a21f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cb463a21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cb463a21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cb463a21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cb463a21f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cb463a21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cb463a21f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cb463a21f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cb463a21f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cb463a21f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cb463a21f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bcb463a21f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cb463a21f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bcb463a21f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cb463a21f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bcb463a21f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47726b200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f47726b200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47726b200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f47726b20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cb463a21f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cb463a21f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cb463a21f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bcb463a21f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cb463a21f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bcb463a21f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cb463a21f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bcb463a21f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47726b200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f47726b20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quay.io/myorg/ml-app:0.1.0" TargetMode="External"/><Relationship Id="rId4" Type="http://schemas.openxmlformats.org/officeDocument/2006/relationships/hyperlink" Target="http://quay.io/myorg/ml-app:0.1.0" TargetMode="External"/><Relationship Id="rId5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 Orchestration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Priyanka Naik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48560" r="0" t="0"/>
          <a:stretch/>
        </p:blipFill>
        <p:spPr>
          <a:xfrm>
            <a:off x="4440199" y="164850"/>
            <a:ext cx="4703798" cy="481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388" y="126438"/>
            <a:ext cx="3800475" cy="47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4000"/>
            <a:ext cx="9144000" cy="43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50" y="1547702"/>
            <a:ext cx="9143999" cy="298579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311700" y="413700"/>
            <a:ext cx="6177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Cloud Evolution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 of application deployment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Monolithic applications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90" name="Google Shape;90;p18"/>
          <p:cNvGrpSpPr/>
          <p:nvPr/>
        </p:nvGrpSpPr>
        <p:grpSpPr>
          <a:xfrm>
            <a:off x="873425" y="1698325"/>
            <a:ext cx="3574350" cy="1277710"/>
            <a:chOff x="873425" y="1698325"/>
            <a:chExt cx="3574350" cy="1277710"/>
          </a:xfrm>
        </p:grpSpPr>
        <p:sp>
          <p:nvSpPr>
            <p:cNvPr id="91" name="Google Shape;91;p18"/>
            <p:cNvSpPr/>
            <p:nvPr/>
          </p:nvSpPr>
          <p:spPr>
            <a:xfrm>
              <a:off x="2870975" y="1698325"/>
              <a:ext cx="1576800" cy="1277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8"/>
            <p:cNvSpPr/>
            <p:nvPr/>
          </p:nvSpPr>
          <p:spPr>
            <a:xfrm>
              <a:off x="2943775" y="1908600"/>
              <a:ext cx="881700" cy="841200"/>
            </a:xfrm>
            <a:prstGeom prst="rect">
              <a:avLst/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frontend</a:t>
              </a:r>
              <a:endParaRPr/>
            </a:p>
          </p:txBody>
        </p:sp>
        <p:sp>
          <p:nvSpPr>
            <p:cNvPr id="93" name="Google Shape;93;p18"/>
            <p:cNvSpPr/>
            <p:nvPr/>
          </p:nvSpPr>
          <p:spPr>
            <a:xfrm>
              <a:off x="3825475" y="1916575"/>
              <a:ext cx="428400" cy="8412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db</a:t>
              </a:r>
              <a:endParaRPr/>
            </a:p>
          </p:txBody>
        </p:sp>
        <p:sp>
          <p:nvSpPr>
            <p:cNvPr id="94" name="Google Shape;94;p18"/>
            <p:cNvSpPr/>
            <p:nvPr/>
          </p:nvSpPr>
          <p:spPr>
            <a:xfrm>
              <a:off x="873425" y="2102563"/>
              <a:ext cx="671100" cy="4773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Client</a:t>
              </a:r>
              <a:endParaRPr/>
            </a:p>
          </p:txBody>
        </p:sp>
        <p:pic>
          <p:nvPicPr>
            <p:cNvPr id="95" name="Google Shape;95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62372" y="2482835"/>
              <a:ext cx="493200" cy="493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6" name="Google Shape;96;p18"/>
            <p:cNvCxnSpPr>
              <a:stCxn id="94" idx="3"/>
              <a:endCxn id="91" idx="1"/>
            </p:cNvCxnSpPr>
            <p:nvPr/>
          </p:nvCxnSpPr>
          <p:spPr>
            <a:xfrm flipH="1" rot="10800000">
              <a:off x="1544525" y="2337313"/>
              <a:ext cx="1326600" cy="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97" name="Google Shape;97;p18"/>
          <p:cNvSpPr txBox="1"/>
          <p:nvPr/>
        </p:nvSpPr>
        <p:spPr>
          <a:xfrm>
            <a:off x="5140800" y="1908600"/>
            <a:ext cx="4003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Single executable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Tight coupling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Huge code base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Microservices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5140800" y="1908600"/>
            <a:ext cx="4003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Multiple small services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Loose coupling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Ease of managing/scaling individual service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05" name="Google Shape;105;p19"/>
          <p:cNvGrpSpPr/>
          <p:nvPr/>
        </p:nvGrpSpPr>
        <p:grpSpPr>
          <a:xfrm>
            <a:off x="873425" y="1916575"/>
            <a:ext cx="3380450" cy="1059460"/>
            <a:chOff x="873425" y="1916575"/>
            <a:chExt cx="3380450" cy="1059460"/>
          </a:xfrm>
        </p:grpSpPr>
        <p:sp>
          <p:nvSpPr>
            <p:cNvPr id="106" name="Google Shape;106;p19"/>
            <p:cNvSpPr/>
            <p:nvPr/>
          </p:nvSpPr>
          <p:spPr>
            <a:xfrm>
              <a:off x="2296800" y="1916575"/>
              <a:ext cx="881700" cy="841200"/>
            </a:xfrm>
            <a:prstGeom prst="rect">
              <a:avLst/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frontend</a:t>
              </a:r>
              <a:endParaRPr/>
            </a:p>
          </p:txBody>
        </p:sp>
        <p:sp>
          <p:nvSpPr>
            <p:cNvPr id="107" name="Google Shape;107;p19"/>
            <p:cNvSpPr/>
            <p:nvPr/>
          </p:nvSpPr>
          <p:spPr>
            <a:xfrm>
              <a:off x="3825475" y="1916575"/>
              <a:ext cx="428400" cy="8412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db</a:t>
              </a:r>
              <a:endParaRPr/>
            </a:p>
          </p:txBody>
        </p:sp>
        <p:sp>
          <p:nvSpPr>
            <p:cNvPr id="108" name="Google Shape;108;p19"/>
            <p:cNvSpPr/>
            <p:nvPr/>
          </p:nvSpPr>
          <p:spPr>
            <a:xfrm>
              <a:off x="873425" y="2102563"/>
              <a:ext cx="671100" cy="4773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Client</a:t>
              </a:r>
              <a:endParaRPr/>
            </a:p>
          </p:txBody>
        </p:sp>
        <p:pic>
          <p:nvPicPr>
            <p:cNvPr id="109" name="Google Shape;109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62372" y="2482835"/>
              <a:ext cx="493200" cy="493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0" name="Google Shape;110;p19"/>
            <p:cNvCxnSpPr>
              <a:stCxn id="108" idx="3"/>
              <a:endCxn id="106" idx="1"/>
            </p:cNvCxnSpPr>
            <p:nvPr/>
          </p:nvCxnSpPr>
          <p:spPr>
            <a:xfrm flipH="1" rot="10800000">
              <a:off x="1544525" y="2337313"/>
              <a:ext cx="752400" cy="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1" name="Google Shape;111;p19"/>
            <p:cNvCxnSpPr>
              <a:stCxn id="106" idx="3"/>
              <a:endCxn id="107" idx="1"/>
            </p:cNvCxnSpPr>
            <p:nvPr/>
          </p:nvCxnSpPr>
          <p:spPr>
            <a:xfrm>
              <a:off x="3178500" y="2337175"/>
              <a:ext cx="647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251" y="3305725"/>
            <a:ext cx="2938527" cy="1757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8926" y="3385825"/>
            <a:ext cx="2938527" cy="175767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deployments</a:t>
            </a:r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3775" y="1302050"/>
            <a:ext cx="3669375" cy="200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/>
          <p:nvPr/>
        </p:nvSpPr>
        <p:spPr>
          <a:xfrm>
            <a:off x="2830200" y="1916575"/>
            <a:ext cx="881700" cy="841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</a:t>
            </a:r>
            <a:endParaRPr/>
          </a:p>
        </p:txBody>
      </p:sp>
      <p:sp>
        <p:nvSpPr>
          <p:cNvPr id="122" name="Google Shape;122;p20"/>
          <p:cNvSpPr/>
          <p:nvPr/>
        </p:nvSpPr>
        <p:spPr>
          <a:xfrm>
            <a:off x="4358875" y="1916575"/>
            <a:ext cx="428400" cy="841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</a:t>
            </a:r>
            <a:endParaRPr/>
          </a:p>
        </p:txBody>
      </p:sp>
      <p:cxnSp>
        <p:nvCxnSpPr>
          <p:cNvPr id="123" name="Google Shape;123;p20"/>
          <p:cNvCxnSpPr>
            <a:stCxn id="121" idx="3"/>
            <a:endCxn id="122" idx="1"/>
          </p:cNvCxnSpPr>
          <p:nvPr/>
        </p:nvCxnSpPr>
        <p:spPr>
          <a:xfrm>
            <a:off x="3711900" y="2337175"/>
            <a:ext cx="647100" cy="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4" name="Google Shape;124;p20"/>
          <p:cNvSpPr/>
          <p:nvPr/>
        </p:nvSpPr>
        <p:spPr>
          <a:xfrm>
            <a:off x="873425" y="2102563"/>
            <a:ext cx="671100" cy="477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2372" y="2482835"/>
            <a:ext cx="493200" cy="493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20"/>
          <p:cNvCxnSpPr>
            <a:stCxn id="124" idx="3"/>
            <a:endCxn id="121" idx="1"/>
          </p:cNvCxnSpPr>
          <p:nvPr/>
        </p:nvCxnSpPr>
        <p:spPr>
          <a:xfrm flipH="1" rot="10800000">
            <a:off x="1544525" y="2337313"/>
            <a:ext cx="1285800" cy="39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7" name="Google Shape;127;p20"/>
          <p:cNvSpPr txBox="1"/>
          <p:nvPr/>
        </p:nvSpPr>
        <p:spPr>
          <a:xfrm>
            <a:off x="6574950" y="1577025"/>
            <a:ext cx="258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6204000" y="1302050"/>
            <a:ext cx="2902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Microservice architecture enables easy deployment on cloud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Run large compute, storage task on the cloud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5951" y="3440900"/>
            <a:ext cx="2938527" cy="17576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20"/>
          <p:cNvCxnSpPr/>
          <p:nvPr/>
        </p:nvCxnSpPr>
        <p:spPr>
          <a:xfrm>
            <a:off x="3197000" y="2757775"/>
            <a:ext cx="86400" cy="12858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1" name="Google Shape;131;p20"/>
          <p:cNvCxnSpPr>
            <a:stCxn id="122" idx="2"/>
          </p:cNvCxnSpPr>
          <p:nvPr/>
        </p:nvCxnSpPr>
        <p:spPr>
          <a:xfrm flipH="1" rot="-5400000">
            <a:off x="4478125" y="2852725"/>
            <a:ext cx="1383000" cy="1193100"/>
          </a:xfrm>
          <a:prstGeom prst="bentConnector3">
            <a:avLst>
              <a:gd fmla="val 20465" name="adj1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Virtualization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Process Virtualization: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a process/application as is on different underlying machine architecture. E.g. Java Virtual Machine (JVM)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System Virtualization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a machine over a machine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Enables running multiple virtual machine on a single physical machine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Enabled through hypervisor/virtual machine monitor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/>
          <p:nvPr/>
        </p:nvSpPr>
        <p:spPr>
          <a:xfrm>
            <a:off x="1318225" y="3858525"/>
            <a:ext cx="2304900" cy="283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Hypervisor</a:t>
            </a:r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1318225" y="4409350"/>
            <a:ext cx="2304900" cy="283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Machine</a:t>
            </a:r>
            <a:endParaRPr/>
          </a:p>
        </p:txBody>
      </p:sp>
      <p:sp>
        <p:nvSpPr>
          <p:cNvPr id="140" name="Google Shape;140;p21"/>
          <p:cNvSpPr/>
          <p:nvPr/>
        </p:nvSpPr>
        <p:spPr>
          <a:xfrm>
            <a:off x="1318225" y="3492075"/>
            <a:ext cx="3963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VM</a:t>
            </a:r>
            <a:endParaRPr sz="1100"/>
          </a:p>
        </p:txBody>
      </p:sp>
      <p:sp>
        <p:nvSpPr>
          <p:cNvPr id="141" name="Google Shape;141;p21"/>
          <p:cNvSpPr/>
          <p:nvPr/>
        </p:nvSpPr>
        <p:spPr>
          <a:xfrm>
            <a:off x="1963938" y="3492075"/>
            <a:ext cx="3963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VM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2609650" y="3492075"/>
            <a:ext cx="3963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VM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3226825" y="3492075"/>
            <a:ext cx="3963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VM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4029075" y="3437975"/>
            <a:ext cx="1099800" cy="210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</a:t>
            </a:r>
            <a:endParaRPr/>
          </a:p>
        </p:txBody>
      </p:sp>
      <p:sp>
        <p:nvSpPr>
          <p:cNvPr id="145" name="Google Shape;145;p21"/>
          <p:cNvSpPr/>
          <p:nvPr/>
        </p:nvSpPr>
        <p:spPr>
          <a:xfrm>
            <a:off x="4029075" y="3648275"/>
            <a:ext cx="1099800" cy="221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Guest OS</a:t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 rot="-5400000">
            <a:off x="3612325" y="3440775"/>
            <a:ext cx="426000" cy="404400"/>
          </a:xfrm>
          <a:prstGeom prst="trapezoid">
            <a:avLst>
              <a:gd fmla="val 25000" name="adj"/>
            </a:avLst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1318225" y="4163325"/>
            <a:ext cx="2304900" cy="283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Host 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Downsides of VMs</a:t>
            </a:r>
            <a:endParaRPr/>
          </a:p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Heavy-weight - need to run guest OS 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Consume a lot of resources to run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very large in size - typically in GBs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something that is more lightweight that still gives us isolation and a reproducible environment</a:t>
            </a:r>
            <a:endParaRPr/>
          </a:p>
        </p:txBody>
      </p:sp>
      <p:sp>
        <p:nvSpPr>
          <p:cNvPr id="154" name="Google Shape;154;p22"/>
          <p:cNvSpPr/>
          <p:nvPr/>
        </p:nvSpPr>
        <p:spPr>
          <a:xfrm>
            <a:off x="1083700" y="3818100"/>
            <a:ext cx="2304900" cy="283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Hypervisor</a:t>
            </a:r>
            <a:endParaRPr/>
          </a:p>
        </p:txBody>
      </p:sp>
      <p:sp>
        <p:nvSpPr>
          <p:cNvPr id="155" name="Google Shape;155;p22"/>
          <p:cNvSpPr/>
          <p:nvPr/>
        </p:nvSpPr>
        <p:spPr>
          <a:xfrm>
            <a:off x="1083700" y="3451650"/>
            <a:ext cx="3963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VM</a:t>
            </a:r>
            <a:endParaRPr sz="1100"/>
          </a:p>
        </p:txBody>
      </p:sp>
      <p:sp>
        <p:nvSpPr>
          <p:cNvPr id="156" name="Google Shape;156;p22"/>
          <p:cNvSpPr/>
          <p:nvPr/>
        </p:nvSpPr>
        <p:spPr>
          <a:xfrm>
            <a:off x="1729413" y="3451650"/>
            <a:ext cx="3963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VM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2375125" y="3451650"/>
            <a:ext cx="3963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VM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2992300" y="3451650"/>
            <a:ext cx="3963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VM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9" name="Google Shape;159;p22"/>
          <p:cNvSpPr/>
          <p:nvPr/>
        </p:nvSpPr>
        <p:spPr>
          <a:xfrm>
            <a:off x="4640825" y="3818100"/>
            <a:ext cx="2379000" cy="283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</a:t>
            </a:r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5286554" y="3451650"/>
            <a:ext cx="4947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Proc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1" name="Google Shape;161;p22"/>
          <p:cNvSpPr/>
          <p:nvPr/>
        </p:nvSpPr>
        <p:spPr>
          <a:xfrm>
            <a:off x="5887791" y="3451650"/>
            <a:ext cx="4947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Proc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6489054" y="3451650"/>
            <a:ext cx="4947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Proc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4691479" y="3451650"/>
            <a:ext cx="4947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Proc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Containers</a:t>
            </a:r>
            <a:endParaRPr/>
          </a:p>
        </p:txBody>
      </p:sp>
      <p:sp>
        <p:nvSpPr>
          <p:cNvPr id="169" name="Google Shape;16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Lightweight virtual machines without guest 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Isolation - no interference between 2 processes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does it achieve this:</a:t>
            </a:r>
            <a:endParaRPr/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Namespace: isolated view of resources like file system, network resources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cgroups: Resource limit per process/container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Docker</a:t>
            </a:r>
            <a:endParaRPr/>
          </a:p>
        </p:txBody>
      </p:sp>
      <p:sp>
        <p:nvSpPr>
          <p:cNvPr id="175" name="Google Shape;17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Char char="●"/>
            </a:pPr>
            <a:r>
              <a:rPr lang="en">
                <a:solidFill>
                  <a:srgbClr val="111111"/>
                </a:solidFill>
                <a:highlight>
                  <a:srgbClr val="FFFFFF"/>
                </a:highlight>
              </a:rPr>
              <a:t>Helps developer to build, deploy, update, and run containers.</a:t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Char char="●"/>
            </a:pP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Portability: </a:t>
            </a:r>
            <a:r>
              <a:rPr lang="en">
                <a:solidFill>
                  <a:srgbClr val="111111"/>
                </a:solidFill>
                <a:highlight>
                  <a:srgbClr val="FFFFFF"/>
                </a:highlight>
              </a:rPr>
              <a:t>Saves</a:t>
            </a: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 </a:t>
            </a:r>
            <a:r>
              <a:rPr lang="en">
                <a:solidFill>
                  <a:srgbClr val="111111"/>
                </a:solidFill>
                <a:highlight>
                  <a:srgbClr val="FFFFFF"/>
                </a:highlight>
              </a:rPr>
              <a:t>time</a:t>
            </a: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 </a:t>
            </a:r>
            <a:r>
              <a:rPr lang="en">
                <a:solidFill>
                  <a:srgbClr val="111111"/>
                </a:solidFill>
                <a:highlight>
                  <a:srgbClr val="FFFFFF"/>
                </a:highlight>
              </a:rPr>
              <a:t>spent on setting up the environment and testing the application</a:t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Char char="●"/>
            </a:pP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Simple and Fast: </a:t>
            </a:r>
            <a:r>
              <a:rPr lang="en">
                <a:solidFill>
                  <a:srgbClr val="111111"/>
                </a:solidFill>
                <a:highlight>
                  <a:srgbClr val="FFFFFF"/>
                </a:highlight>
              </a:rPr>
              <a:t>Users have to put their configuration into the code and deploy it. </a:t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Char char="●"/>
            </a:pP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Isolation: </a:t>
            </a:r>
            <a:r>
              <a:rPr lang="en">
                <a:solidFill>
                  <a:srgbClr val="111111"/>
                </a:solidFill>
                <a:highlight>
                  <a:srgbClr val="FFFFFF"/>
                </a:highlight>
              </a:rPr>
              <a:t>Every Docker container has its resources isolated from other containers</a:t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Char char="●"/>
            </a:pP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Security:</a:t>
            </a:r>
            <a:r>
              <a:rPr lang="en">
                <a:solidFill>
                  <a:srgbClr val="111111"/>
                </a:solidFill>
                <a:highlight>
                  <a:srgbClr val="FFFFFF"/>
                </a:highlight>
              </a:rPr>
              <a:t>control over container management and traffic flow</a:t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Components</a:t>
            </a:r>
            <a:endParaRPr/>
          </a:p>
        </p:txBody>
      </p:sp>
      <p:sp>
        <p:nvSpPr>
          <p:cNvPr id="181" name="Google Shape;18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Docker Client</a:t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4957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900">
                <a:solidFill>
                  <a:srgbClr val="111111"/>
                </a:solidFill>
                <a:highlight>
                  <a:srgbClr val="FFFFFF"/>
                </a:highlight>
              </a:rPr>
              <a:t>Docker can connect to the host remotely and locally.</a:t>
            </a:r>
            <a:endParaRPr b="1" sz="19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Docker Image</a:t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4957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900">
                <a:solidFill>
                  <a:srgbClr val="111111"/>
                </a:solidFill>
                <a:highlight>
                  <a:srgbClr val="FFFFFF"/>
                </a:highlight>
              </a:rPr>
              <a:t>Hold the entire metadata that elaborates the capabilities of the container.</a:t>
            </a:r>
            <a:endParaRPr sz="19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4957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900">
                <a:solidFill>
                  <a:srgbClr val="111111"/>
                </a:solidFill>
                <a:highlight>
                  <a:srgbClr val="FFFFFF"/>
                </a:highlight>
              </a:rPr>
              <a:t>Read-only binary templates in YAML.</a:t>
            </a:r>
            <a:endParaRPr sz="19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Docker Daemon</a:t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87973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700">
                <a:solidFill>
                  <a:srgbClr val="111111"/>
                </a:solidFill>
                <a:highlight>
                  <a:srgbClr val="FFFFFF"/>
                </a:highlight>
              </a:rPr>
              <a:t>runs as a background process that manages parts like Docker networks, storage volumes, containers, and images.</a:t>
            </a:r>
            <a:endParaRPr sz="17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87973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700">
                <a:solidFill>
                  <a:srgbClr val="111111"/>
                </a:solidFill>
                <a:highlight>
                  <a:srgbClr val="FFFFFF"/>
                </a:highlight>
              </a:rPr>
              <a:t>start up command to client converts to HTTP API call to the daemon</a:t>
            </a:r>
            <a:endParaRPr sz="17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87973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700">
                <a:solidFill>
                  <a:srgbClr val="111111"/>
                </a:solidFill>
                <a:highlight>
                  <a:srgbClr val="FFFFFF"/>
                </a:highlight>
              </a:rPr>
              <a:t>only respond to the Docker API requests to perform the tasks.</a:t>
            </a:r>
            <a:endParaRPr sz="17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Docker Networking</a:t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4957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900">
                <a:solidFill>
                  <a:srgbClr val="111111"/>
                </a:solidFill>
                <a:highlight>
                  <a:srgbClr val="FFFFFF"/>
                </a:highlight>
              </a:rPr>
              <a:t>Establishing communication between containers. </a:t>
            </a:r>
            <a:endParaRPr sz="19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4957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900">
                <a:solidFill>
                  <a:srgbClr val="111111"/>
                </a:solidFill>
                <a:highlight>
                  <a:srgbClr val="FFFFFF"/>
                </a:highlight>
              </a:rPr>
              <a:t>E.g. bridge</a:t>
            </a:r>
            <a:endParaRPr sz="19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Docker Registry</a:t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4957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900">
                <a:solidFill>
                  <a:srgbClr val="111111"/>
                </a:solidFill>
                <a:highlight>
                  <a:srgbClr val="FFFFFF"/>
                </a:highlight>
              </a:rPr>
              <a:t>Location were docker images are stored</a:t>
            </a:r>
            <a:endParaRPr sz="19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4957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900">
                <a:solidFill>
                  <a:srgbClr val="111111"/>
                </a:solidFill>
                <a:highlight>
                  <a:srgbClr val="FFFFFF"/>
                </a:highlight>
              </a:rPr>
              <a:t>Docker Hub is the default storage location</a:t>
            </a:r>
            <a:endParaRPr b="1" sz="19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Docker Container</a:t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4957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900">
                <a:solidFill>
                  <a:srgbClr val="111111"/>
                </a:solidFill>
                <a:highlight>
                  <a:srgbClr val="FFFFFF"/>
                </a:highlight>
              </a:rPr>
              <a:t>instance of an image that can be </a:t>
            </a:r>
            <a:endParaRPr sz="19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4957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900">
                <a:solidFill>
                  <a:srgbClr val="111111"/>
                </a:solidFill>
                <a:highlight>
                  <a:srgbClr val="FFFFFF"/>
                </a:highlight>
              </a:rPr>
              <a:t>created, started, moved, or deleted through a Docker API.</a:t>
            </a:r>
            <a:endParaRPr b="1" sz="19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</p:txBody>
      </p:sp>
      <p:pic>
        <p:nvPicPr>
          <p:cNvPr id="182" name="Google Shape;182;p25"/>
          <p:cNvPicPr preferRelativeResize="0"/>
          <p:nvPr/>
        </p:nvPicPr>
        <p:blipFill rotWithShape="1">
          <a:blip r:embed="rId3">
            <a:alphaModFix/>
          </a:blip>
          <a:srcRect b="0" l="0" r="0" t="14259"/>
          <a:stretch/>
        </p:blipFill>
        <p:spPr>
          <a:xfrm>
            <a:off x="5213175" y="2672375"/>
            <a:ext cx="3695451" cy="180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Demystify some questions</a:t>
            </a:r>
            <a:endParaRPr/>
          </a:p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Good alternative for Docker? </a:t>
            </a:r>
            <a:r>
              <a:rPr lang="en" sz="1400">
                <a:solidFill>
                  <a:srgbClr val="111111"/>
                </a:solidFill>
                <a:highlight>
                  <a:srgbClr val="FFFFFF"/>
                </a:highlight>
              </a:rPr>
              <a:t>Buildah, RunC, LXD, Podman, Kaniko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Is it preferable to run more than one application in a single Docker container?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rgbClr val="111111"/>
                </a:solidFill>
                <a:highlight>
                  <a:srgbClr val="FFFFFF"/>
                </a:highlight>
              </a:rPr>
              <a:t>Experts always advise running a single application in a Docker container. </a:t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rgbClr val="111111"/>
                </a:solidFill>
                <a:highlight>
                  <a:srgbClr val="FFFFFF"/>
                </a:highlight>
              </a:rPr>
              <a:t>Attain better isolation, make it easier for building, testing, and scaling the application.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What is the difference between Podman and Docker?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rgbClr val="111111"/>
                </a:solidFill>
                <a:highlight>
                  <a:srgbClr val="FFFFFF"/>
                </a:highlight>
              </a:rPr>
              <a:t>Docker uses Daemon as a component whereas Podman follows a daemonless architecture. </a:t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Podman needs another tool to manage services and support running containers in the background.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Systemd can also be integrated with Podman allowing it to run containers with systemd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Docker can build container images on its own. Podman requires the assistance of another tool called Buildah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 docker</a:t>
            </a:r>
            <a:endParaRPr/>
          </a:p>
        </p:txBody>
      </p:sp>
      <p:sp>
        <p:nvSpPr>
          <p:cNvPr id="194" name="Google Shape;19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Prereq: Linux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docker -v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$ docker: command not found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https://docs.docker.com/engine/install/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run a container</a:t>
            </a:r>
            <a:endParaRPr/>
          </a:p>
        </p:txBody>
      </p:sp>
      <p:sp>
        <p:nvSpPr>
          <p:cNvPr id="200" name="Google Shape;20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Container image can either be built locally or “pulled” from a registry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Commands to pull a sample image and run 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2211950" y="3354750"/>
            <a:ext cx="5569200" cy="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Tries to find a local image, else pulls it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642125" y="2270050"/>
            <a:ext cx="3977100" cy="7308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docker pull python:3.7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docker run python:3.7 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3" name="Google Shape;203;p28"/>
          <p:cNvCxnSpPr>
            <a:stCxn id="204" idx="1"/>
          </p:cNvCxnSpPr>
          <p:nvPr/>
        </p:nvCxnSpPr>
        <p:spPr>
          <a:xfrm flipH="1">
            <a:off x="3859325" y="2159125"/>
            <a:ext cx="759900" cy="32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" name="Google Shape;204;p28"/>
          <p:cNvSpPr txBox="1"/>
          <p:nvPr/>
        </p:nvSpPr>
        <p:spPr>
          <a:xfrm>
            <a:off x="4619225" y="1893775"/>
            <a:ext cx="4377000" cy="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This pulls from the public docker registry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05" name="Google Shape;205;p28"/>
          <p:cNvCxnSpPr/>
          <p:nvPr/>
        </p:nvCxnSpPr>
        <p:spPr>
          <a:xfrm rot="10800000">
            <a:off x="3505450" y="2928875"/>
            <a:ext cx="740400" cy="49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" name="Google Shape;206;p28"/>
          <p:cNvSpPr txBox="1"/>
          <p:nvPr/>
        </p:nvSpPr>
        <p:spPr>
          <a:xfrm>
            <a:off x="642125" y="3779300"/>
            <a:ext cx="5353200" cy="831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docker run python:3.7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Unable to find image 'python:3.7' locally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3.7: Pulling from library/python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950" y="941125"/>
            <a:ext cx="6683274" cy="330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31"/>
          <p:cNvPicPr preferRelativeResize="0"/>
          <p:nvPr/>
        </p:nvPicPr>
        <p:blipFill rotWithShape="1">
          <a:blip r:embed="rId3">
            <a:alphaModFix/>
          </a:blip>
          <a:srcRect b="35111" l="0" r="0" t="0"/>
          <a:stretch/>
        </p:blipFill>
        <p:spPr>
          <a:xfrm>
            <a:off x="0" y="0"/>
            <a:ext cx="9144003" cy="513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run a container</a:t>
            </a:r>
            <a:endParaRPr/>
          </a:p>
        </p:txBody>
      </p:sp>
      <p:sp>
        <p:nvSpPr>
          <p:cNvPr id="238" name="Google Shape;238;p33"/>
          <p:cNvSpPr txBox="1"/>
          <p:nvPr>
            <p:ph idx="1" type="body"/>
          </p:nvPr>
        </p:nvSpPr>
        <p:spPr>
          <a:xfrm>
            <a:off x="311700" y="1152475"/>
            <a:ext cx="2414100" cy="334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docker run nginx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" name="Google Shape;239;p33"/>
          <p:cNvSpPr txBox="1"/>
          <p:nvPr>
            <p:ph idx="1" type="body"/>
          </p:nvPr>
        </p:nvSpPr>
        <p:spPr>
          <a:xfrm>
            <a:off x="3129150" y="1016425"/>
            <a:ext cx="5748900" cy="60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Will pull the image and start running 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2023/12/11 13:30:57 [notice] 1#1: start worker process 94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0" name="Google Shape;240;p33"/>
          <p:cNvSpPr txBox="1"/>
          <p:nvPr>
            <p:ph idx="1" type="body"/>
          </p:nvPr>
        </p:nvSpPr>
        <p:spPr>
          <a:xfrm>
            <a:off x="311700" y="1920775"/>
            <a:ext cx="1464000" cy="334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docker ps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1" name="Google Shape;241;p33"/>
          <p:cNvSpPr txBox="1"/>
          <p:nvPr>
            <p:ph idx="1" type="body"/>
          </p:nvPr>
        </p:nvSpPr>
        <p:spPr>
          <a:xfrm>
            <a:off x="112500" y="2426850"/>
            <a:ext cx="8932500" cy="508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CONTAINER ID  IMAGE  COMMAND              	  CREATED      STATUS     PORTS   NAMES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e036efae11db  nginx  "/docker-entrypoint."  3 min. ago   Up 3 min.  80/tcp  sweet_mccarthy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" name="Google Shape;242;p33"/>
          <p:cNvSpPr txBox="1"/>
          <p:nvPr/>
        </p:nvSpPr>
        <p:spPr>
          <a:xfrm>
            <a:off x="3096375" y="1891975"/>
            <a:ext cx="3774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</a:rPr>
              <a:t>Lists all containers on the system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3" name="Google Shape;243;p33"/>
          <p:cNvSpPr txBox="1"/>
          <p:nvPr/>
        </p:nvSpPr>
        <p:spPr>
          <a:xfrm>
            <a:off x="4418025" y="3303500"/>
            <a:ext cx="3999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</a:rPr>
              <a:t>Very useful to examine the container and debug</a:t>
            </a:r>
            <a:endParaRPr sz="1350">
              <a:solidFill>
                <a:schemeClr val="dk1"/>
              </a:solidFill>
            </a:endParaRPr>
          </a:p>
        </p:txBody>
      </p:sp>
      <p:sp>
        <p:nvSpPr>
          <p:cNvPr id="244" name="Google Shape;244;p33"/>
          <p:cNvSpPr txBox="1"/>
          <p:nvPr>
            <p:ph idx="1" type="body"/>
          </p:nvPr>
        </p:nvSpPr>
        <p:spPr>
          <a:xfrm>
            <a:off x="311700" y="3332300"/>
            <a:ext cx="3672000" cy="334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docker inspect &lt;cid&gt;/&lt;name&gt;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Image Size Investigation</a:t>
            </a:r>
            <a:endParaRPr/>
          </a:p>
        </p:txBody>
      </p:sp>
      <p:sp>
        <p:nvSpPr>
          <p:cNvPr id="250" name="Google Shape;25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If you see docker disk full issue you can use following command to debug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docker images --format "table {{.Repository}}\t{{.Tag}}\t{{.Size}}" | sort -hr -k 3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In a image to check which layer is largest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docker history &lt;imageid&gt;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Delete</a:t>
            </a:r>
            <a:r>
              <a:rPr lang="en" sz="1400">
                <a:solidFill>
                  <a:schemeClr val="dk1"/>
                </a:solidFill>
              </a:rPr>
              <a:t> all unused images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docker system prune -a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Publishing image</a:t>
            </a:r>
            <a:endParaRPr/>
          </a:p>
        </p:txBody>
      </p:sp>
      <p:sp>
        <p:nvSpPr>
          <p:cNvPr id="256" name="Google Shape;25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# 1. Log in (use a Quay robot account token, not your password)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docker login quay.io -u &lt;quay-username&gt;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# Password prompt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# 2. Tag for Quay: quay.io/&lt;namespace&gt;/&lt;repo&gt;:&lt;tag&gt;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docker tag </a:t>
            </a:r>
            <a:r>
              <a:rPr lang="en"/>
              <a:t>ml-app:v1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quay.io/myorg/</a:t>
            </a:r>
            <a:r>
              <a:rPr lang="en" u="sng">
                <a:solidFill>
                  <a:schemeClr val="hlink"/>
                </a:solidFill>
                <a:hlinkClick r:id="rId4"/>
              </a:rPr>
              <a:t>ml-app:0.1.0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# 3. Push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docker push quay.io/myorg/ml-app:0.1.0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p35" title="registries-tab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100" y="4004550"/>
            <a:ext cx="7923176" cy="11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compose</a:t>
            </a:r>
            <a:endParaRPr/>
          </a:p>
        </p:txBody>
      </p:sp>
      <p:sp>
        <p:nvSpPr>
          <p:cNvPr id="263" name="Google Shape;26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Allows to run multi-container applications - before kubernetes etc.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You specify multiple docker containers and it brings them all up.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It sets up a single network for your entire application, all containers join them and can reach each other on this network.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internals - layers</a:t>
            </a:r>
            <a:endParaRPr/>
          </a:p>
        </p:txBody>
      </p:sp>
      <p:pic>
        <p:nvPicPr>
          <p:cNvPr id="269" name="Google Shape;269;p37"/>
          <p:cNvPicPr preferRelativeResize="0"/>
          <p:nvPr/>
        </p:nvPicPr>
        <p:blipFill rotWithShape="1">
          <a:blip r:embed="rId3">
            <a:alphaModFix/>
          </a:blip>
          <a:srcRect b="7109" l="3406" r="2759" t="7646"/>
          <a:stretch/>
        </p:blipFill>
        <p:spPr>
          <a:xfrm>
            <a:off x="311700" y="1228800"/>
            <a:ext cx="8580726" cy="308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Layers</a:t>
            </a:r>
            <a:endParaRPr/>
          </a:p>
        </p:txBody>
      </p:sp>
      <p:sp>
        <p:nvSpPr>
          <p:cNvPr id="275" name="Google Shape;275;p38"/>
          <p:cNvSpPr txBox="1"/>
          <p:nvPr>
            <p:ph idx="1" type="body"/>
          </p:nvPr>
        </p:nvSpPr>
        <p:spPr>
          <a:xfrm>
            <a:off x="311700" y="1152475"/>
            <a:ext cx="443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>
                <a:solidFill>
                  <a:srgbClr val="000000"/>
                </a:solidFill>
              </a:rPr>
              <a:t>Docker image is built as a series of layers, each layer represents a line in the Dockerfile. </a:t>
            </a:r>
            <a:endParaRPr>
              <a:solidFill>
                <a:srgbClr val="000000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>
                <a:solidFill>
                  <a:srgbClr val="000000"/>
                </a:solidFill>
              </a:rPr>
              <a:t>Every command that modifies the filesystem is a new layer.</a:t>
            </a:r>
            <a:endParaRPr>
              <a:solidFill>
                <a:srgbClr val="000000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>
                <a:solidFill>
                  <a:srgbClr val="000000"/>
                </a:solidFill>
              </a:rPr>
              <a:t>The layer only captures the diff from the previous layer.</a:t>
            </a:r>
            <a:endParaRPr>
              <a:solidFill>
                <a:srgbClr val="000000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>
                <a:solidFill>
                  <a:srgbClr val="000000"/>
                </a:solidFill>
              </a:rPr>
              <a:t>Layers are shared across different images.</a:t>
            </a:r>
            <a:endParaRPr>
              <a:solidFill>
                <a:srgbClr val="000000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>
                <a:solidFill>
                  <a:srgbClr val="000000"/>
                </a:solidFill>
              </a:rPr>
              <a:t>When we run a container, a new writable layer (called container layer) is created. Other layers are read-only.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76" name="Google Shape;276;p38"/>
          <p:cNvPicPr preferRelativeResize="0"/>
          <p:nvPr/>
        </p:nvPicPr>
        <p:blipFill rotWithShape="1">
          <a:blip r:embed="rId3">
            <a:alphaModFix/>
          </a:blip>
          <a:srcRect b="0" l="7621" r="0" t="0"/>
          <a:stretch/>
        </p:blipFill>
        <p:spPr>
          <a:xfrm>
            <a:off x="4747500" y="677875"/>
            <a:ext cx="4365649" cy="38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8"/>
          <p:cNvSpPr txBox="1"/>
          <p:nvPr/>
        </p:nvSpPr>
        <p:spPr>
          <a:xfrm>
            <a:off x="622500" y="4935000"/>
            <a:ext cx="29475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https://docs.docker.com/storage/storagedriver/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Layers</a:t>
            </a:r>
            <a:endParaRPr/>
          </a:p>
        </p:txBody>
      </p:sp>
      <p:sp>
        <p:nvSpPr>
          <p:cNvPr id="283" name="Google Shape;283;p39"/>
          <p:cNvSpPr txBox="1"/>
          <p:nvPr/>
        </p:nvSpPr>
        <p:spPr>
          <a:xfrm>
            <a:off x="622500" y="4935000"/>
            <a:ext cx="29475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https://docs.docker.com/storage/storagedriver/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84" name="Google Shape;28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7538" y="1221200"/>
            <a:ext cx="5788919" cy="326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ml-app-docker example</a:t>
            </a:r>
            <a:endParaRPr/>
          </a:p>
        </p:txBody>
      </p:sp>
      <p:sp>
        <p:nvSpPr>
          <p:cNvPr id="290" name="Google Shape;290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docker build -t ml-app:v1 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docker run -d --name mycontainer1 -p 8000:8000 </a:t>
            </a:r>
            <a:r>
              <a:rPr lang="en">
                <a:solidFill>
                  <a:schemeClr val="dk1"/>
                </a:solidFill>
              </a:rPr>
              <a:t>ml-app:v1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# In another terminal: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curl http://localhost:8000/health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curl -X POST http://localhost:8000/predict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-H "Content-Type: application/json"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-d '{"texts": ["I love this!", "This is awful."]}'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Expected response: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{"predictions":[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{"text":"I love this!","label":"POSITIVE","score":0.9998},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{"text":"This is awful.","label":"NEGATIVE","score":0.9997}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]}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