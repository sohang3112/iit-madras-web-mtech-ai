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b463a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b463a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b463a2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b463a2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b463a2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b463a2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with iit b keynote talk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b463a2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b463a2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b463a2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b463a2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b463a21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cb463a21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b463a21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b463a21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b463a21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b463a2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cloud hybrid and all here?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b463a21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cb463a21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Process Virtualization technology ensures that a Task is executed exactly as if it is being executed on the computer that initiated the Job (Initiating Machine), regardless of the remote Agent's file system, installation base, and environment.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b463a21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b463a21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 still need to be handle with the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b463a21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cb463a21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b463a21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b463a21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cb463a21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cb463a21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111"/>
                </a:solidFill>
                <a:highlight>
                  <a:srgbClr val="FFFFFF"/>
                </a:highlight>
              </a:rPr>
              <a:t>client-server architecture</a:t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111"/>
                </a:solidFill>
                <a:highlight>
                  <a:srgbClr val="FFFFFF"/>
                </a:highlight>
              </a:rPr>
              <a:t>Docker Hub is public registry</a:t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b463a21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cb463a21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cb463a21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cb463a21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b463a21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b463a21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cb463a21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cb463a21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b463a21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cb463a21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cb463a21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cb463a21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cb463a21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cb463a21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cb463a21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cb463a21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47726b20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47726b20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7726b20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47726b20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cb463a21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cb463a21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cb463a21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cb463a21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cb463a21f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cb463a21f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cb463a21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cb463a21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7726b20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7726b20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quay.io/myorg/ml-app:0.1.0" TargetMode="External"/><Relationship Id="rId4" Type="http://schemas.openxmlformats.org/officeDocument/2006/relationships/hyperlink" Target="http://quay.io/myorg/ml-app:0.1.0" TargetMode="External"/><Relationship Id="rId5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Orchestration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Priyanka Naik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48560" r="0" t="0"/>
          <a:stretch/>
        </p:blipFill>
        <p:spPr>
          <a:xfrm>
            <a:off x="4440199" y="164850"/>
            <a:ext cx="4703798" cy="481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88" y="126438"/>
            <a:ext cx="38004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4000"/>
            <a:ext cx="9144000" cy="43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0" y="1547702"/>
            <a:ext cx="9143999" cy="298579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11700" y="413700"/>
            <a:ext cx="617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Cloud Evolution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application deployment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Monolithic applications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8"/>
          <p:cNvGrpSpPr/>
          <p:nvPr/>
        </p:nvGrpSpPr>
        <p:grpSpPr>
          <a:xfrm>
            <a:off x="873425" y="1698325"/>
            <a:ext cx="3574350" cy="1277710"/>
            <a:chOff x="873425" y="1698325"/>
            <a:chExt cx="3574350" cy="1277710"/>
          </a:xfrm>
        </p:grpSpPr>
        <p:sp>
          <p:nvSpPr>
            <p:cNvPr id="91" name="Google Shape;91;p18"/>
            <p:cNvSpPr/>
            <p:nvPr/>
          </p:nvSpPr>
          <p:spPr>
            <a:xfrm>
              <a:off x="2870975" y="1698325"/>
              <a:ext cx="1576800" cy="127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2943775" y="1908600"/>
              <a:ext cx="881700" cy="841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frontend</a:t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3825475" y="1916575"/>
              <a:ext cx="428400" cy="841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873425" y="2102563"/>
              <a:ext cx="671100" cy="4773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pic>
          <p:nvPicPr>
            <p:cNvPr id="95" name="Google Shape;95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2372" y="2482835"/>
              <a:ext cx="493200" cy="493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6" name="Google Shape;96;p18"/>
            <p:cNvCxnSpPr>
              <a:stCxn id="94" idx="3"/>
              <a:endCxn id="91" idx="1"/>
            </p:cNvCxnSpPr>
            <p:nvPr/>
          </p:nvCxnSpPr>
          <p:spPr>
            <a:xfrm flipH="1" rot="10800000">
              <a:off x="1544525" y="2337313"/>
              <a:ext cx="13266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7" name="Google Shape;97;p18"/>
          <p:cNvSpPr txBox="1"/>
          <p:nvPr/>
        </p:nvSpPr>
        <p:spPr>
          <a:xfrm>
            <a:off x="5140800" y="1908600"/>
            <a:ext cx="4003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Single executable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Tight coupling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Huge code base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140800" y="1908600"/>
            <a:ext cx="4003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Multiple small services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Loose coupling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Ease of managing/scaling individual service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873425" y="1916575"/>
            <a:ext cx="3380450" cy="1059460"/>
            <a:chOff x="873425" y="1916575"/>
            <a:chExt cx="3380450" cy="1059460"/>
          </a:xfrm>
        </p:grpSpPr>
        <p:sp>
          <p:nvSpPr>
            <p:cNvPr id="106" name="Google Shape;106;p19"/>
            <p:cNvSpPr/>
            <p:nvPr/>
          </p:nvSpPr>
          <p:spPr>
            <a:xfrm>
              <a:off x="2296800" y="1916575"/>
              <a:ext cx="881700" cy="841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frontend</a:t>
              </a: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3825475" y="1916575"/>
              <a:ext cx="428400" cy="8412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873425" y="2102563"/>
              <a:ext cx="671100" cy="4773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pic>
          <p:nvPicPr>
            <p:cNvPr id="109" name="Google Shape;10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2372" y="2482835"/>
              <a:ext cx="493200" cy="493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0" name="Google Shape;110;p19"/>
            <p:cNvCxnSpPr>
              <a:stCxn id="108" idx="3"/>
              <a:endCxn id="106" idx="1"/>
            </p:cNvCxnSpPr>
            <p:nvPr/>
          </p:nvCxnSpPr>
          <p:spPr>
            <a:xfrm flipH="1" rot="10800000">
              <a:off x="1544525" y="2337313"/>
              <a:ext cx="7524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" name="Google Shape;111;p19"/>
            <p:cNvCxnSpPr>
              <a:stCxn id="106" idx="3"/>
              <a:endCxn id="107" idx="1"/>
            </p:cNvCxnSpPr>
            <p:nvPr/>
          </p:nvCxnSpPr>
          <p:spPr>
            <a:xfrm>
              <a:off x="3178500" y="2337175"/>
              <a:ext cx="64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251" y="3305725"/>
            <a:ext cx="2938527" cy="17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926" y="3385825"/>
            <a:ext cx="2938527" cy="175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deployments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775" y="1302050"/>
            <a:ext cx="3669375" cy="20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2830200" y="1916575"/>
            <a:ext cx="881700" cy="841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4358875" y="1916575"/>
            <a:ext cx="428400" cy="841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  <p:cxnSp>
        <p:nvCxnSpPr>
          <p:cNvPr id="123" name="Google Shape;123;p20"/>
          <p:cNvCxnSpPr>
            <a:stCxn id="121" idx="3"/>
            <a:endCxn id="122" idx="1"/>
          </p:cNvCxnSpPr>
          <p:nvPr/>
        </p:nvCxnSpPr>
        <p:spPr>
          <a:xfrm>
            <a:off x="3711900" y="2337175"/>
            <a:ext cx="6471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" name="Google Shape;124;p20"/>
          <p:cNvSpPr/>
          <p:nvPr/>
        </p:nvSpPr>
        <p:spPr>
          <a:xfrm>
            <a:off x="873425" y="2102563"/>
            <a:ext cx="671100" cy="477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372" y="2482835"/>
            <a:ext cx="493200" cy="49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0"/>
          <p:cNvCxnSpPr>
            <a:stCxn id="124" idx="3"/>
            <a:endCxn id="121" idx="1"/>
          </p:cNvCxnSpPr>
          <p:nvPr/>
        </p:nvCxnSpPr>
        <p:spPr>
          <a:xfrm flipH="1" rot="10800000">
            <a:off x="1544525" y="2337313"/>
            <a:ext cx="1285800" cy="39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" name="Google Shape;127;p20"/>
          <p:cNvSpPr txBox="1"/>
          <p:nvPr/>
        </p:nvSpPr>
        <p:spPr>
          <a:xfrm>
            <a:off x="6574950" y="1577025"/>
            <a:ext cx="25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6204000" y="1302050"/>
            <a:ext cx="290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Microservice architecture enables easy deployment on cloud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Run large compute, storage task on the cloud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951" y="3440900"/>
            <a:ext cx="2938527" cy="1757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0"/>
          <p:cNvCxnSpPr/>
          <p:nvPr/>
        </p:nvCxnSpPr>
        <p:spPr>
          <a:xfrm>
            <a:off x="3197000" y="2757775"/>
            <a:ext cx="86400" cy="1285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" name="Google Shape;131;p20"/>
          <p:cNvCxnSpPr>
            <a:stCxn id="122" idx="2"/>
          </p:cNvCxnSpPr>
          <p:nvPr/>
        </p:nvCxnSpPr>
        <p:spPr>
          <a:xfrm flipH="1" rot="-5400000">
            <a:off x="4478125" y="2852725"/>
            <a:ext cx="1383000" cy="1193100"/>
          </a:xfrm>
          <a:prstGeom prst="bentConnector3">
            <a:avLst>
              <a:gd fmla="val 20465" name="adj1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Virtualization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Virtualization: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 process/application as is on different underlying machine architecture. E.g. Java Virtual Machine (JVM)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System Virtualization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 machine over a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Enables running multiple virtual machine on a single physical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Enabled through hypervisor/virtual machine monitor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1318225" y="3858525"/>
            <a:ext cx="23049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Hypervisor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318225" y="4409350"/>
            <a:ext cx="2304900" cy="283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Machine</a:t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1318225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VM</a:t>
            </a:r>
            <a:endParaRPr sz="1100"/>
          </a:p>
        </p:txBody>
      </p:sp>
      <p:sp>
        <p:nvSpPr>
          <p:cNvPr id="141" name="Google Shape;141;p21"/>
          <p:cNvSpPr/>
          <p:nvPr/>
        </p:nvSpPr>
        <p:spPr>
          <a:xfrm>
            <a:off x="1963938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609650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3226825" y="3492075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029075" y="3437975"/>
            <a:ext cx="1099800" cy="210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4029075" y="3648275"/>
            <a:ext cx="1099800" cy="221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OS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-5400000">
            <a:off x="3612325" y="3440775"/>
            <a:ext cx="426000" cy="404400"/>
          </a:xfrm>
          <a:prstGeom prst="trapezoid">
            <a:avLst>
              <a:gd fmla="val 25000" name="adj"/>
            </a:avLst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1318225" y="4163325"/>
            <a:ext cx="2304900" cy="28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 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Downsides of VMs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Heavy-weight - need to run guest OS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Consume a lot of resources to run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very large in size - typically in GBs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something that is more lightweight that still gives us isolation and a reproducible environment</a:t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1083700" y="3818100"/>
            <a:ext cx="23049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Hypervisor</a:t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083700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VM</a:t>
            </a:r>
            <a:endParaRPr sz="1100"/>
          </a:p>
        </p:txBody>
      </p:sp>
      <p:sp>
        <p:nvSpPr>
          <p:cNvPr id="156" name="Google Shape;156;p22"/>
          <p:cNvSpPr/>
          <p:nvPr/>
        </p:nvSpPr>
        <p:spPr>
          <a:xfrm>
            <a:off x="1729413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375125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2992300" y="3451650"/>
            <a:ext cx="3963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640825" y="3818100"/>
            <a:ext cx="2379000" cy="283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</a:t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5286554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5887791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6489054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691479" y="3451650"/>
            <a:ext cx="494700" cy="283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Containers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Lightweight virtual machines without guest 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Isolation - no interference between 2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it achieve this:</a:t>
            </a:r>
            <a:endParaRPr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Namespace: isolated view of resources like file system, network resources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cgroups: Resource limit per process/container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Docker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Helps developer to build, deploy, update, and run containers.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Portability: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Saves</a:t>
            </a: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time</a:t>
            </a: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spent on setting up the environment and testing the application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Simple and Fast: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Users have to put their configuration into the code and deploy it. 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Isolation: 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Every Docker container has its resources isolated from other containers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Security:</a:t>
            </a: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control over container management and traffic flow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Components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Client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Docker can connect to the host remotely and locally.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Image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Hold the entire metadata that elaborates the capabilities of the container.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Read-only binary templates in YAML.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Daemon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runs as a background process that manages parts like Docker networks, storage volumes, containers, and images.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start up command to client converts to HTTP API call to the daemon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700">
                <a:solidFill>
                  <a:srgbClr val="111111"/>
                </a:solidFill>
                <a:highlight>
                  <a:srgbClr val="FFFFFF"/>
                </a:highlight>
              </a:rPr>
              <a:t>only respond to the Docker API requests to perform the tasks.</a:t>
            </a:r>
            <a:endParaRPr sz="17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Networking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Establishing communication between containers. 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E.g. bridge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Registry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Location were docker images are stored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Docker Hub is the default storage location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b="1" lang="en">
                <a:solidFill>
                  <a:srgbClr val="111111"/>
                </a:solidFill>
                <a:highlight>
                  <a:srgbClr val="FFFFFF"/>
                </a:highlight>
              </a:rPr>
              <a:t>Docker Container</a:t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instance of an image that can be </a:t>
            </a:r>
            <a:endParaRPr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294957" lvl="1" marL="9144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1900">
                <a:solidFill>
                  <a:srgbClr val="111111"/>
                </a:solidFill>
                <a:highlight>
                  <a:srgbClr val="FFFFFF"/>
                </a:highlight>
              </a:rPr>
              <a:t>created, started, moved, or deleted through a Docker API.</a:t>
            </a:r>
            <a:endParaRPr b="1" sz="19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0" t="14259"/>
          <a:stretch/>
        </p:blipFill>
        <p:spPr>
          <a:xfrm>
            <a:off x="5213175" y="2672375"/>
            <a:ext cx="3695451" cy="18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Demystify some questions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Good alternative for Docker? </a:t>
            </a:r>
            <a:r>
              <a:rPr lang="en" sz="1400">
                <a:solidFill>
                  <a:srgbClr val="111111"/>
                </a:solidFill>
                <a:highlight>
                  <a:srgbClr val="FFFFFF"/>
                </a:highlight>
              </a:rPr>
              <a:t>Buildah, RunC, LXD, Podman, Kaniko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Is it preferable to run more than one application in a single Docker container?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Experts always advise running a single application in a Docker container.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Attain better isolation, make it easier for building, testing, and scaling the application.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What is the difference between Podman and Docker?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rgbClr val="111111"/>
                </a:solidFill>
                <a:highlight>
                  <a:srgbClr val="FFFFFF"/>
                </a:highlight>
              </a:rPr>
              <a:t>Docker uses Daemon as a component whereas Podman follows a daemonless architecture.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Podman needs another tool to manage services and support running containers in the background.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Systemd can also be integrated with Podman allowing it to run containers with systemd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Docker can build container images on its own. Podman requires the assistance of another tool called Buildah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docker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Prereq: Linux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-v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 docker: command not found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https://docs.docker.com/engine/install/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a container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Container image can either be built locally or “pulled” from a registry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Commands to pull a sample image and run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2211950" y="3354750"/>
            <a:ext cx="55692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Tries to find a local image, else pulls 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642125" y="2270050"/>
            <a:ext cx="3977100" cy="730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pull python:3.7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python:3.7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3" name="Google Shape;203;p28"/>
          <p:cNvCxnSpPr>
            <a:stCxn id="204" idx="1"/>
          </p:cNvCxnSpPr>
          <p:nvPr/>
        </p:nvCxnSpPr>
        <p:spPr>
          <a:xfrm flipH="1">
            <a:off x="3859325" y="2159125"/>
            <a:ext cx="759900" cy="32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8"/>
          <p:cNvSpPr txBox="1"/>
          <p:nvPr/>
        </p:nvSpPr>
        <p:spPr>
          <a:xfrm>
            <a:off x="4619225" y="1893775"/>
            <a:ext cx="43770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This pulls from the public docker registry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05" name="Google Shape;205;p28"/>
          <p:cNvCxnSpPr/>
          <p:nvPr/>
        </p:nvCxnSpPr>
        <p:spPr>
          <a:xfrm rot="10800000">
            <a:off x="3505450" y="2928875"/>
            <a:ext cx="740400" cy="49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8"/>
          <p:cNvSpPr txBox="1"/>
          <p:nvPr/>
        </p:nvSpPr>
        <p:spPr>
          <a:xfrm>
            <a:off x="642125" y="3779300"/>
            <a:ext cx="5353200" cy="831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python:3.7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Unable to find image 'python:3.7' locally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3.7: Pulling from library/python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950" y="941125"/>
            <a:ext cx="6683274" cy="3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b="35111" l="0" r="0" t="0"/>
          <a:stretch/>
        </p:blipFill>
        <p:spPr>
          <a:xfrm>
            <a:off x="0" y="0"/>
            <a:ext cx="9144003" cy="513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run a container</a:t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11700" y="1152475"/>
            <a:ext cx="24141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run nginx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129150" y="1016425"/>
            <a:ext cx="5748900" cy="6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Will pull the image and start running 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2023/12/11 13:30:57 [notice] 1#1: start worker process 94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311700" y="1920775"/>
            <a:ext cx="14640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docker ps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112500" y="2426850"/>
            <a:ext cx="8932500" cy="508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CONTAINER ID  IMAGE  COMMAND              	  CREATED      STATUS     PORTS   NAMES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e036efae11db  nginx  "/docker-entrypoint."  3 min. ago   Up 3 min.  80/tcp  sweet_mccarthy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3096375" y="1891975"/>
            <a:ext cx="377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</a:rPr>
              <a:t>Lists all containers on the system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4418025" y="3303500"/>
            <a:ext cx="3999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</a:rPr>
              <a:t>Very useful to examine the container and debug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311700" y="3332300"/>
            <a:ext cx="3672000" cy="33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docker inspect &lt;cid&gt;/&lt;name&gt;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Image Size Investigation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If you see docker disk full issue you can use following command to debug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images --format "table {{.Repository}}\t{{.Tag}}\t{{.Size}}" | sort -hr -k 3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In a image to check which layer is largest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history &lt;imageid&gt;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Delete</a:t>
            </a:r>
            <a:r>
              <a:rPr lang="en" sz="1400">
                <a:solidFill>
                  <a:schemeClr val="dk1"/>
                </a:solidFill>
              </a:rPr>
              <a:t> all unused images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system prune -a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 image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1. Log in (use a Quay robot account token, not your password)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docker login quay.io -u &lt;quay-username&gt;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Password prompt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2. Tag for Quay: quay.io/&lt;namespace&gt;/&lt;repo&gt;:&lt;tag&gt;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docker tag </a:t>
            </a:r>
            <a:r>
              <a:rPr lang="en"/>
              <a:t>ml-app:v1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quay.io/myorg/</a:t>
            </a:r>
            <a:r>
              <a:rPr lang="en" u="sng">
                <a:solidFill>
                  <a:schemeClr val="hlink"/>
                </a:solidFill>
                <a:hlinkClick r:id="rId4"/>
              </a:rPr>
              <a:t>ml-app:0.1.0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3. Push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docker push quay.io/myorg/ml-app:0.1.0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5" title="registries-tab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100" y="4004550"/>
            <a:ext cx="7923176" cy="11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</a:t>
            </a:r>
            <a:endParaRPr/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Allows to run multi-container applications - before kubernetes etc.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specify multiple docker containers and it brings them all 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It sets up a single network for your entire application, all containers join them and can reach each other on this network.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internals - layers</a:t>
            </a:r>
            <a:endParaRPr/>
          </a:p>
        </p:txBody>
      </p:sp>
      <p:pic>
        <p:nvPicPr>
          <p:cNvPr id="269" name="Google Shape;269;p37"/>
          <p:cNvPicPr preferRelativeResize="0"/>
          <p:nvPr/>
        </p:nvPicPr>
        <p:blipFill rotWithShape="1">
          <a:blip r:embed="rId3">
            <a:alphaModFix/>
          </a:blip>
          <a:srcRect b="7109" l="3406" r="2759" t="7646"/>
          <a:stretch/>
        </p:blipFill>
        <p:spPr>
          <a:xfrm>
            <a:off x="311700" y="1228800"/>
            <a:ext cx="8580726" cy="30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52475"/>
            <a:ext cx="443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Docker image is built as a series of layers, each layer represents a line in the Dockerfile. 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Every command that modifies the filesystem is a new layer.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The layer only captures the diff from the previous layer.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Layers are shared across different images.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>
                <a:solidFill>
                  <a:srgbClr val="000000"/>
                </a:solidFill>
              </a:rPr>
              <a:t>When we run a container, a new writable layer (called container layer) is created. Other layers are read-only.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3">
            <a:alphaModFix/>
          </a:blip>
          <a:srcRect b="0" l="7621" r="0" t="0"/>
          <a:stretch/>
        </p:blipFill>
        <p:spPr>
          <a:xfrm>
            <a:off x="4747500" y="677875"/>
            <a:ext cx="4365649" cy="38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/>
          <p:nvPr/>
        </p:nvSpPr>
        <p:spPr>
          <a:xfrm>
            <a:off x="622500" y="4935000"/>
            <a:ext cx="2947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https://docs.docker.com/storage/storagedriver/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</a:t>
            </a:r>
            <a:endParaRPr/>
          </a:p>
        </p:txBody>
      </p:sp>
      <p:sp>
        <p:nvSpPr>
          <p:cNvPr id="283" name="Google Shape;283;p39"/>
          <p:cNvSpPr txBox="1"/>
          <p:nvPr/>
        </p:nvSpPr>
        <p:spPr>
          <a:xfrm>
            <a:off x="622500" y="4935000"/>
            <a:ext cx="2947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https://docs.docker.com/storage/storagedriver/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4" name="Google Shape;2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538" y="1221200"/>
            <a:ext cx="5788919" cy="326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ml-app-docker example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build -t ml-app:v1 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run -d --name mycontainer1 -p 8000:8000 </a:t>
            </a:r>
            <a:r>
              <a:rPr lang="en">
                <a:solidFill>
                  <a:schemeClr val="dk1"/>
                </a:solidFill>
              </a:rPr>
              <a:t>ml-app:v1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# In another terminal: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http://localhost:8000/health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-X POST http://localhost:8000/predict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-H "Content-Type: application/json" \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-d '{"texts": ["I love this!", "This is awful."]}'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Expected response: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{"predictions":[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{"text":"I love this!","label":"POSITIVE","score":0.9998},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{"text":"This is awful.","label":"NEGATIVE","score":0.9997}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]}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